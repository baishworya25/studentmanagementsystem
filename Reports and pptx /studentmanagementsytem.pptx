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57" r:id="rId4"/>
    <p:sldId id="280" r:id="rId5"/>
    <p:sldId id="259" r:id="rId6"/>
    <p:sldId id="260" r:id="rId7"/>
    <p:sldId id="261" r:id="rId8"/>
    <p:sldId id="274" r:id="rId9"/>
    <p:sldId id="262" r:id="rId10"/>
    <p:sldId id="273" r:id="rId11"/>
    <p:sldId id="264" r:id="rId12"/>
    <p:sldId id="272" r:id="rId13"/>
    <p:sldId id="266" r:id="rId14"/>
    <p:sldId id="267" r:id="rId15"/>
    <p:sldId id="275" r:id="rId16"/>
    <p:sldId id="276" r:id="rId17"/>
    <p:sldId id="277" r:id="rId18"/>
    <p:sldId id="278" r:id="rId19"/>
    <p:sldId id="279" r:id="rId20"/>
    <p:sldId id="268" r:id="rId21"/>
    <p:sldId id="269" r:id="rId22"/>
    <p:sldId id="270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82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348"/>
    <p:restoredTop sz="94610"/>
  </p:normalViewPr>
  <p:slideViewPr>
    <p:cSldViewPr snapToGrid="0" snapToObjects="1">
      <p:cViewPr varScale="1">
        <p:scale>
          <a:sx n="134" d="100"/>
          <a:sy n="134" d="100"/>
        </p:scale>
        <p:origin x="184" y="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9551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125" y="1311966"/>
            <a:ext cx="3763333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Management System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1000125" y="2992143"/>
            <a:ext cx="3763333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Project - Fundamentals of Data Science (FODS)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5634996" y="1878806"/>
            <a:ext cx="250887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BY: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5634996" y="2228850"/>
            <a:ext cx="250887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Aishworya Balami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634996" y="2487811"/>
            <a:ext cx="250887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Diksha Thapa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634996" y="2746772"/>
            <a:ext cx="250887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Grishma Bhattrai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634996" y="3005733"/>
            <a:ext cx="250887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Anusha Tamang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Objectives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28625" y="1503034"/>
            <a:ext cx="1810941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Centralization</a:t>
            </a:r>
            <a:endParaRPr lang="en-US" sz="1397" dirty="0"/>
          </a:p>
        </p:txBody>
      </p:sp>
      <p:sp>
        <p:nvSpPr>
          <p:cNvPr id="5" name="Text 2"/>
          <p:cNvSpPr/>
          <p:nvPr/>
        </p:nvSpPr>
        <p:spPr>
          <a:xfrm>
            <a:off x="428625" y="2154510"/>
            <a:ext cx="1810941" cy="10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all student-related information, including grades and ECA, in a </a:t>
            </a:r>
            <a:r>
              <a:rPr lang="en-US" sz="885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and accessible</a:t>
            </a: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format using persistent text files.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2539603" y="1503034"/>
            <a:ext cx="1810941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Role-Based Access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2539603" y="2154510"/>
            <a:ext cx="1810941" cy="123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distinct functionalities for </a:t>
            </a:r>
            <a:r>
              <a:rPr lang="en-US" sz="885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Administrators and Students</a:t>
            </a: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ensuring data security and role-specific workflows.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4650581" y="1503034"/>
            <a:ext cx="1810941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Tracking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4650581" y="2154510"/>
            <a:ext cx="1810941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 students to monitor their academic progress through </a:t>
            </a:r>
            <a:r>
              <a:rPr lang="en-US" sz="885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charts</a:t>
            </a: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easy profile management.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6761559" y="1503034"/>
            <a:ext cx="1810941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Analytics</a:t>
            </a:r>
            <a:endParaRPr lang="en-US" sz="1397" dirty="0"/>
          </a:p>
        </p:txBody>
      </p:sp>
      <p:sp>
        <p:nvSpPr>
          <p:cNvPr id="11" name="Text 8"/>
          <p:cNvSpPr/>
          <p:nvPr/>
        </p:nvSpPr>
        <p:spPr>
          <a:xfrm>
            <a:off x="6761559" y="1914497"/>
            <a:ext cx="1810941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administrators with </a:t>
            </a:r>
            <a:r>
              <a:rPr lang="en-US" sz="885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insights</a:t>
            </a: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into overall class performance and activity participation.</a:t>
            </a:r>
            <a:endParaRPr lang="en-US" sz="94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185131" y="3195425"/>
            <a:ext cx="2658019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</a:t>
            </a:r>
            <a:endParaRPr lang="en-US" sz="3294" dirty="0">
              <a:solidFill>
                <a:srgbClr val="3182CE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1360159"/>
            <a:ext cx="65" cy="2657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5127733" y="4122696"/>
            <a:ext cx="356473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Python-based Command Line Interface (CLI) application designed for educational institutions to streamline student data management.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71500" y="2751404"/>
            <a:ext cx="65" cy="2657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endParaRPr lang="en-US" sz="1602" dirty="0"/>
          </a:p>
        </p:txBody>
      </p:sp>
      <p:sp>
        <p:nvSpPr>
          <p:cNvPr id="7" name="Text 4"/>
          <p:cNvSpPr/>
          <p:nvPr/>
        </p:nvSpPr>
        <p:spPr>
          <a:xfrm>
            <a:off x="571500" y="3171099"/>
            <a:ext cx="3564731" cy="208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3714024"/>
            <a:ext cx="3564731" cy="208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71500" y="4256949"/>
            <a:ext cx="65" cy="2086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07769" y="1360159"/>
            <a:ext cx="65" cy="2657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endParaRPr lang="en-US" sz="1602" dirty="0"/>
          </a:p>
        </p:txBody>
      </p:sp>
      <p:sp>
        <p:nvSpPr>
          <p:cNvPr id="11" name="Text 8"/>
          <p:cNvSpPr/>
          <p:nvPr/>
        </p:nvSpPr>
        <p:spPr>
          <a:xfrm>
            <a:off x="5007769" y="1779854"/>
            <a:ext cx="3564731" cy="208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007769" y="2322779"/>
            <a:ext cx="65" cy="2086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007769" y="2637104"/>
            <a:ext cx="65" cy="2086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175857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428625"/>
            <a:ext cx="3175732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3077" b="1" dirty="0">
                <a:solidFill>
                  <a:srgbClr val="1A20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Problems and Solutions</a:t>
            </a:r>
            <a:endParaRPr lang="en-US" sz="3077" dirty="0"/>
          </a:p>
        </p:txBody>
      </p:sp>
      <p:sp>
        <p:nvSpPr>
          <p:cNvPr id="5" name="Text 2"/>
          <p:cNvSpPr/>
          <p:nvPr/>
        </p:nvSpPr>
        <p:spPr>
          <a:xfrm>
            <a:off x="571500" y="2228850"/>
            <a:ext cx="3175732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1" dirty="0">
                <a:solidFill>
                  <a:srgbClr val="3182C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PROBLEM</a:t>
            </a:r>
            <a:endParaRPr lang="en-US" sz="1397" dirty="0"/>
          </a:p>
        </p:txBody>
      </p:sp>
      <p:sp>
        <p:nvSpPr>
          <p:cNvPr id="6" name="Text 3"/>
          <p:cNvSpPr/>
          <p:nvPr/>
        </p:nvSpPr>
        <p:spPr>
          <a:xfrm>
            <a:off x="735806" y="2627114"/>
            <a:ext cx="184936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Manual record-keeping is highly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500314" y="2635813"/>
            <a:ext cx="1144008" cy="196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20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inefficient and slow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3711513" y="2627114"/>
            <a:ext cx="357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35806" y="3141464"/>
            <a:ext cx="120771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entry is prone to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943519" y="3141464"/>
            <a:ext cx="67014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20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human error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2613664" y="3141464"/>
            <a:ext cx="113356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and inconsistencies.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35806" y="3655814"/>
            <a:ext cx="4662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Lack of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202020" y="3655814"/>
            <a:ext cx="111693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20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real-time insights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2141838" y="3655814"/>
            <a:ext cx="1605394" cy="199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and data visualization.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190144" y="0"/>
            <a:ext cx="4953856" cy="514350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761644" y="1893094"/>
            <a:ext cx="3810856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1" dirty="0">
                <a:solidFill>
                  <a:srgbClr val="3182C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SOLUTION</a:t>
            </a:r>
            <a:endParaRPr lang="en-US" sz="1397" dirty="0"/>
          </a:p>
        </p:txBody>
      </p:sp>
      <p:sp>
        <p:nvSpPr>
          <p:cNvPr id="17" name="Text 14"/>
          <p:cNvSpPr/>
          <p:nvPr/>
        </p:nvSpPr>
        <p:spPr>
          <a:xfrm>
            <a:off x="4925950" y="2291358"/>
            <a:ext cx="241790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centralized digital system to manage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051589" y="2291358"/>
            <a:ext cx="1485193" cy="196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20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profiles and grades</a:t>
            </a:r>
            <a:endParaRPr lang="en-US" sz="987" dirty="0"/>
          </a:p>
        </p:txBody>
      </p:sp>
      <p:sp>
        <p:nvSpPr>
          <p:cNvPr id="19" name="Text 16"/>
          <p:cNvSpPr/>
          <p:nvPr/>
        </p:nvSpPr>
        <p:spPr>
          <a:xfrm>
            <a:off x="8536781" y="2291358"/>
            <a:ext cx="357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925950" y="2805708"/>
            <a:ext cx="2493574" cy="199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Automated tracking of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170749" y="2805708"/>
            <a:ext cx="2028825" cy="196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20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extracurricular activities</a:t>
            </a:r>
            <a:endParaRPr lang="en-US" sz="987" dirty="0"/>
          </a:p>
        </p:txBody>
      </p:sp>
      <p:sp>
        <p:nvSpPr>
          <p:cNvPr id="22" name="Text 19"/>
          <p:cNvSpPr/>
          <p:nvPr/>
        </p:nvSpPr>
        <p:spPr>
          <a:xfrm>
            <a:off x="8199574" y="2805708"/>
            <a:ext cx="357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925950" y="3105745"/>
            <a:ext cx="50542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Built-in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346357" y="3105745"/>
            <a:ext cx="722594" cy="196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20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analytics</a:t>
            </a:r>
            <a:endParaRPr lang="en-US" sz="987" dirty="0"/>
          </a:p>
        </p:txBody>
      </p:sp>
      <p:sp>
        <p:nvSpPr>
          <p:cNvPr id="25" name="Text 22"/>
          <p:cNvSpPr/>
          <p:nvPr/>
        </p:nvSpPr>
        <p:spPr>
          <a:xfrm>
            <a:off x="5851777" y="3105745"/>
            <a:ext cx="2245999" cy="199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for performance assessment.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Architecture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571500" y="1503034"/>
            <a:ext cx="23002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LOGIC LAYER</a:t>
            </a:r>
            <a:endParaRPr lang="en-US" sz="1397" dirty="0"/>
          </a:p>
        </p:txBody>
      </p:sp>
      <p:sp>
        <p:nvSpPr>
          <p:cNvPr id="5" name="Text 2"/>
          <p:cNvSpPr/>
          <p:nvPr/>
        </p:nvSpPr>
        <p:spPr>
          <a:xfrm>
            <a:off x="571500" y="1960234"/>
            <a:ext cx="230028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3.x</a:t>
            </a:r>
            <a:endParaRPr lang="en-US" sz="1090" dirty="0"/>
          </a:p>
        </p:txBody>
      </p:sp>
      <p:sp>
        <p:nvSpPr>
          <p:cNvPr id="6" name="Text 3"/>
          <p:cNvSpPr/>
          <p:nvPr/>
        </p:nvSpPr>
        <p:spPr>
          <a:xfrm>
            <a:off x="571500" y="2206693"/>
            <a:ext cx="23002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programming language used for system logic and CLI implementation.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571500" y="2763906"/>
            <a:ext cx="230028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OOP Pattern</a:t>
            </a:r>
            <a:endParaRPr lang="en-US" sz="1090" dirty="0"/>
          </a:p>
        </p:txBody>
      </p:sp>
      <p:sp>
        <p:nvSpPr>
          <p:cNvPr id="8" name="Text 5"/>
          <p:cNvSpPr/>
          <p:nvPr/>
        </p:nvSpPr>
        <p:spPr>
          <a:xfrm>
            <a:off x="571500" y="3010365"/>
            <a:ext cx="230028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Object-Oriented Programming ensures modularity and code reusability.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3314700" y="1503034"/>
            <a:ext cx="23002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LAYER</a:t>
            </a:r>
            <a:endParaRPr lang="en-US" sz="1397" dirty="0"/>
          </a:p>
        </p:txBody>
      </p:sp>
      <p:sp>
        <p:nvSpPr>
          <p:cNvPr id="10" name="Text 7"/>
          <p:cNvSpPr/>
          <p:nvPr/>
        </p:nvSpPr>
        <p:spPr>
          <a:xfrm>
            <a:off x="3314700" y="1960234"/>
            <a:ext cx="230028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File-Based Storage</a:t>
            </a:r>
            <a:endParaRPr lang="en-US" sz="1090" dirty="0"/>
          </a:p>
        </p:txBody>
      </p:sp>
      <p:sp>
        <p:nvSpPr>
          <p:cNvPr id="11" name="Text 8"/>
          <p:cNvSpPr/>
          <p:nvPr/>
        </p:nvSpPr>
        <p:spPr>
          <a:xfrm>
            <a:off x="3314700" y="2206693"/>
            <a:ext cx="23002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persistent text files (.txt) for storing user data, grades, and logs.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3314700" y="2763906"/>
            <a:ext cx="230028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CRUD Operations</a:t>
            </a:r>
            <a:endParaRPr lang="en-US" sz="1090" dirty="0"/>
          </a:p>
        </p:txBody>
      </p:sp>
      <p:sp>
        <p:nvSpPr>
          <p:cNvPr id="13" name="Text 10"/>
          <p:cNvSpPr/>
          <p:nvPr/>
        </p:nvSpPr>
        <p:spPr>
          <a:xfrm>
            <a:off x="3314700" y="3010365"/>
            <a:ext cx="23002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Create, Read, Update, and Delete logic for file management.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6057900" y="1503034"/>
            <a:ext cx="23002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PRESENTATION</a:t>
            </a:r>
            <a:endParaRPr lang="en-US" sz="1397" dirty="0"/>
          </a:p>
        </p:txBody>
      </p:sp>
      <p:sp>
        <p:nvSpPr>
          <p:cNvPr id="15" name="Text 12"/>
          <p:cNvSpPr/>
          <p:nvPr/>
        </p:nvSpPr>
        <p:spPr>
          <a:xfrm>
            <a:off x="6057900" y="1960234"/>
            <a:ext cx="230028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Matplotlib</a:t>
            </a:r>
            <a:endParaRPr lang="en-US" sz="1090" dirty="0"/>
          </a:p>
        </p:txBody>
      </p:sp>
      <p:sp>
        <p:nvSpPr>
          <p:cNvPr id="16" name="Text 13"/>
          <p:cNvSpPr/>
          <p:nvPr/>
        </p:nvSpPr>
        <p:spPr>
          <a:xfrm>
            <a:off x="6057900" y="2206693"/>
            <a:ext cx="230028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Library used for generating performance charts and data visualizations.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6057900" y="2956787"/>
            <a:ext cx="230028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 Interface</a:t>
            </a:r>
            <a:endParaRPr lang="en-US" sz="1090" dirty="0"/>
          </a:p>
        </p:txBody>
      </p:sp>
      <p:sp>
        <p:nvSpPr>
          <p:cNvPr id="18" name="Text 15"/>
          <p:cNvSpPr/>
          <p:nvPr/>
        </p:nvSpPr>
        <p:spPr>
          <a:xfrm>
            <a:off x="6057900" y="3203246"/>
            <a:ext cx="23002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Command Line Interface for user interaction and system output.</a:t>
            </a:r>
            <a:endParaRPr lang="en-US" sz="94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428625"/>
            <a:ext cx="8429625" cy="44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OOP Structure &amp; Class Diagram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357188" y="1297288"/>
            <a:ext cx="184665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</a:t>
            </a:r>
            <a:endParaRPr lang="en-US" sz="1193" dirty="0"/>
          </a:p>
        </p:txBody>
      </p:sp>
      <p:sp>
        <p:nvSpPr>
          <p:cNvPr id="5" name="Shape 2"/>
          <p:cNvSpPr/>
          <p:nvPr/>
        </p:nvSpPr>
        <p:spPr>
          <a:xfrm>
            <a:off x="357188" y="1647332"/>
            <a:ext cx="646509" cy="178594"/>
          </a:xfrm>
          <a:prstGeom prst="rect">
            <a:avLst/>
          </a:prstGeom>
          <a:solidFill>
            <a:srgbClr val="2B3A42"/>
          </a:solidFill>
          <a:ln/>
        </p:spPr>
      </p:sp>
      <p:sp>
        <p:nvSpPr>
          <p:cNvPr id="6" name="Text 3"/>
          <p:cNvSpPr/>
          <p:nvPr/>
        </p:nvSpPr>
        <p:spPr>
          <a:xfrm>
            <a:off x="357188" y="1647332"/>
            <a:ext cx="646509" cy="178594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Class</a:t>
            </a: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357188" y="2040238"/>
            <a:ext cx="1846659" cy="180380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Attributes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357188" y="2292055"/>
            <a:ext cx="18466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username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357188" y="2506368"/>
            <a:ext cx="18466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password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357188" y="2720680"/>
            <a:ext cx="18466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role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357188" y="3042149"/>
            <a:ext cx="1846659" cy="180380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Methods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357188" y="3293966"/>
            <a:ext cx="18466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login()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357188" y="3508279"/>
            <a:ext cx="18466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logout()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2503884" y="1297288"/>
            <a:ext cx="184665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</a:t>
            </a:r>
            <a:endParaRPr lang="en-US" sz="1193" dirty="0"/>
          </a:p>
        </p:txBody>
      </p:sp>
      <p:sp>
        <p:nvSpPr>
          <p:cNvPr id="15" name="Shape 12"/>
          <p:cNvSpPr/>
          <p:nvPr/>
        </p:nvSpPr>
        <p:spPr>
          <a:xfrm>
            <a:off x="2503884" y="1647332"/>
            <a:ext cx="739378" cy="178594"/>
          </a:xfrm>
          <a:prstGeom prst="rect">
            <a:avLst/>
          </a:prstGeom>
          <a:solidFill>
            <a:srgbClr val="2B3A42"/>
          </a:solidFill>
          <a:ln/>
        </p:spPr>
      </p:sp>
      <p:sp>
        <p:nvSpPr>
          <p:cNvPr id="16" name="Text 13"/>
          <p:cNvSpPr/>
          <p:nvPr/>
        </p:nvSpPr>
        <p:spPr>
          <a:xfrm>
            <a:off x="2503884" y="1647332"/>
            <a:ext cx="739378" cy="178594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Inherits User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2503884" y="2040238"/>
            <a:ext cx="1846659" cy="180380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Attributes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2503884" y="2292055"/>
            <a:ext cx="18466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grades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2503884" y="2506368"/>
            <a:ext cx="18466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eca_records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2503884" y="2827837"/>
            <a:ext cx="1846659" cy="180380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Methods</a:t>
            </a:r>
            <a:endParaRPr lang="en-US" sz="784" dirty="0"/>
          </a:p>
        </p:txBody>
      </p:sp>
      <p:sp>
        <p:nvSpPr>
          <p:cNvPr id="21" name="Text 18"/>
          <p:cNvSpPr/>
          <p:nvPr/>
        </p:nvSpPr>
        <p:spPr>
          <a:xfrm>
            <a:off x="2503884" y="3079654"/>
            <a:ext cx="18466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view_profile()</a:t>
            </a:r>
            <a:endParaRPr lang="en-US" sz="834" dirty="0"/>
          </a:p>
        </p:txBody>
      </p:sp>
      <p:sp>
        <p:nvSpPr>
          <p:cNvPr id="22" name="Text 19"/>
          <p:cNvSpPr/>
          <p:nvPr/>
        </p:nvSpPr>
        <p:spPr>
          <a:xfrm>
            <a:off x="2503884" y="3293966"/>
            <a:ext cx="18466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update_profile()</a:t>
            </a:r>
            <a:endParaRPr lang="en-US" sz="834" dirty="0"/>
          </a:p>
        </p:txBody>
      </p:sp>
      <p:sp>
        <p:nvSpPr>
          <p:cNvPr id="23" name="Text 20"/>
          <p:cNvSpPr/>
          <p:nvPr/>
        </p:nvSpPr>
        <p:spPr>
          <a:xfrm>
            <a:off x="2503884" y="3508279"/>
            <a:ext cx="18466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view_grades()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4650581" y="1297288"/>
            <a:ext cx="184665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</a:t>
            </a:r>
            <a:endParaRPr lang="en-US" sz="1193" dirty="0"/>
          </a:p>
        </p:txBody>
      </p:sp>
      <p:sp>
        <p:nvSpPr>
          <p:cNvPr id="25" name="Shape 22"/>
          <p:cNvSpPr/>
          <p:nvPr/>
        </p:nvSpPr>
        <p:spPr>
          <a:xfrm>
            <a:off x="4650581" y="1647332"/>
            <a:ext cx="739378" cy="178594"/>
          </a:xfrm>
          <a:prstGeom prst="rect">
            <a:avLst/>
          </a:prstGeom>
          <a:solidFill>
            <a:srgbClr val="2B3A42"/>
          </a:solidFill>
          <a:ln/>
        </p:spPr>
      </p:sp>
      <p:sp>
        <p:nvSpPr>
          <p:cNvPr id="26" name="Text 23"/>
          <p:cNvSpPr/>
          <p:nvPr/>
        </p:nvSpPr>
        <p:spPr>
          <a:xfrm>
            <a:off x="4650581" y="1647332"/>
            <a:ext cx="739378" cy="178594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Inherits User</a:t>
            </a:r>
            <a:endParaRPr lang="en-US" sz="683" dirty="0"/>
          </a:p>
        </p:txBody>
      </p:sp>
      <p:sp>
        <p:nvSpPr>
          <p:cNvPr id="27" name="Text 24"/>
          <p:cNvSpPr/>
          <p:nvPr/>
        </p:nvSpPr>
        <p:spPr>
          <a:xfrm>
            <a:off x="4650581" y="2040238"/>
            <a:ext cx="1846659" cy="180380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Attributes</a:t>
            </a:r>
            <a:endParaRPr lang="en-US" sz="784" dirty="0"/>
          </a:p>
        </p:txBody>
      </p:sp>
      <p:sp>
        <p:nvSpPr>
          <p:cNvPr id="28" name="Text 25"/>
          <p:cNvSpPr/>
          <p:nvPr/>
        </p:nvSpPr>
        <p:spPr>
          <a:xfrm>
            <a:off x="4650581" y="2292055"/>
            <a:ext cx="18466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all_users</a:t>
            </a:r>
            <a:endParaRPr lang="en-US" sz="834" dirty="0"/>
          </a:p>
        </p:txBody>
      </p:sp>
      <p:sp>
        <p:nvSpPr>
          <p:cNvPr id="29" name="Text 26"/>
          <p:cNvSpPr/>
          <p:nvPr/>
        </p:nvSpPr>
        <p:spPr>
          <a:xfrm>
            <a:off x="4650581" y="2613524"/>
            <a:ext cx="1846659" cy="180380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Methods</a:t>
            </a:r>
            <a:endParaRPr lang="en-US" sz="784" dirty="0"/>
          </a:p>
        </p:txBody>
      </p:sp>
      <p:sp>
        <p:nvSpPr>
          <p:cNvPr id="30" name="Text 27"/>
          <p:cNvSpPr/>
          <p:nvPr/>
        </p:nvSpPr>
        <p:spPr>
          <a:xfrm>
            <a:off x="4650581" y="2865341"/>
            <a:ext cx="18466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add_user()</a:t>
            </a:r>
            <a:endParaRPr lang="en-US" sz="834" dirty="0"/>
          </a:p>
        </p:txBody>
      </p:sp>
      <p:sp>
        <p:nvSpPr>
          <p:cNvPr id="31" name="Text 28"/>
          <p:cNvSpPr/>
          <p:nvPr/>
        </p:nvSpPr>
        <p:spPr>
          <a:xfrm>
            <a:off x="4650581" y="3079654"/>
            <a:ext cx="18466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modify_record()</a:t>
            </a:r>
            <a:endParaRPr lang="en-US" sz="834" dirty="0"/>
          </a:p>
        </p:txBody>
      </p:sp>
      <p:sp>
        <p:nvSpPr>
          <p:cNvPr id="32" name="Text 29"/>
          <p:cNvSpPr/>
          <p:nvPr/>
        </p:nvSpPr>
        <p:spPr>
          <a:xfrm>
            <a:off x="4650581" y="3293966"/>
            <a:ext cx="18466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delete_student()</a:t>
            </a:r>
            <a:endParaRPr lang="en-US" sz="834" dirty="0"/>
          </a:p>
        </p:txBody>
      </p:sp>
      <p:sp>
        <p:nvSpPr>
          <p:cNvPr id="33" name="Text 30"/>
          <p:cNvSpPr/>
          <p:nvPr/>
        </p:nvSpPr>
        <p:spPr>
          <a:xfrm>
            <a:off x="6797278" y="1297288"/>
            <a:ext cx="184665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</a:t>
            </a:r>
            <a:endParaRPr lang="en-US" sz="1193" dirty="0"/>
          </a:p>
        </p:txBody>
      </p:sp>
      <p:sp>
        <p:nvSpPr>
          <p:cNvPr id="34" name="Shape 31"/>
          <p:cNvSpPr/>
          <p:nvPr/>
        </p:nvSpPr>
        <p:spPr>
          <a:xfrm>
            <a:off x="6797278" y="1647332"/>
            <a:ext cx="698302" cy="178594"/>
          </a:xfrm>
          <a:prstGeom prst="rect">
            <a:avLst/>
          </a:prstGeom>
          <a:solidFill>
            <a:srgbClr val="2B3A42"/>
          </a:solidFill>
          <a:ln/>
        </p:spPr>
      </p:sp>
      <p:sp>
        <p:nvSpPr>
          <p:cNvPr id="35" name="Text 32"/>
          <p:cNvSpPr/>
          <p:nvPr/>
        </p:nvSpPr>
        <p:spPr>
          <a:xfrm>
            <a:off x="6797278" y="1647332"/>
            <a:ext cx="698302" cy="178594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Utility Class</a:t>
            </a:r>
            <a:endParaRPr lang="en-US" sz="683" dirty="0"/>
          </a:p>
        </p:txBody>
      </p:sp>
      <p:sp>
        <p:nvSpPr>
          <p:cNvPr id="36" name="Text 33"/>
          <p:cNvSpPr/>
          <p:nvPr/>
        </p:nvSpPr>
        <p:spPr>
          <a:xfrm>
            <a:off x="6797278" y="2040238"/>
            <a:ext cx="1846659" cy="180380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Attributes</a:t>
            </a:r>
            <a:endParaRPr lang="en-US" sz="784" dirty="0"/>
          </a:p>
        </p:txBody>
      </p:sp>
      <p:sp>
        <p:nvSpPr>
          <p:cNvPr id="37" name="Text 34"/>
          <p:cNvSpPr/>
          <p:nvPr/>
        </p:nvSpPr>
        <p:spPr>
          <a:xfrm>
            <a:off x="6797278" y="2292055"/>
            <a:ext cx="18466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data_source</a:t>
            </a:r>
            <a:endParaRPr lang="en-US" sz="834" dirty="0"/>
          </a:p>
        </p:txBody>
      </p:sp>
      <p:sp>
        <p:nvSpPr>
          <p:cNvPr id="38" name="Text 35"/>
          <p:cNvSpPr/>
          <p:nvPr/>
        </p:nvSpPr>
        <p:spPr>
          <a:xfrm>
            <a:off x="6797278" y="2613524"/>
            <a:ext cx="1846659" cy="180380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Methods</a:t>
            </a:r>
            <a:endParaRPr lang="en-US" sz="784" dirty="0"/>
          </a:p>
        </p:txBody>
      </p:sp>
      <p:sp>
        <p:nvSpPr>
          <p:cNvPr id="39" name="Text 36"/>
          <p:cNvSpPr/>
          <p:nvPr/>
        </p:nvSpPr>
        <p:spPr>
          <a:xfrm>
            <a:off x="6797278" y="2865341"/>
            <a:ext cx="18466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calc_averages()</a:t>
            </a:r>
            <a:endParaRPr lang="en-US" sz="834" dirty="0"/>
          </a:p>
        </p:txBody>
      </p:sp>
      <p:sp>
        <p:nvSpPr>
          <p:cNvPr id="40" name="Text 37"/>
          <p:cNvSpPr/>
          <p:nvPr/>
        </p:nvSpPr>
        <p:spPr>
          <a:xfrm>
            <a:off x="6797278" y="3079654"/>
            <a:ext cx="18466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plot_trends()</a:t>
            </a:r>
            <a:endParaRPr lang="en-US" sz="834" dirty="0"/>
          </a:p>
        </p:txBody>
      </p:sp>
      <p:sp>
        <p:nvSpPr>
          <p:cNvPr id="41" name="Text 38"/>
          <p:cNvSpPr/>
          <p:nvPr/>
        </p:nvSpPr>
        <p:spPr>
          <a:xfrm>
            <a:off x="6797278" y="3293966"/>
            <a:ext cx="18466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get_top_students()</a:t>
            </a:r>
            <a:endParaRPr lang="en-US" sz="83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Workflow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28625" y="1503034"/>
            <a:ext cx="1388734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428625" y="1988809"/>
            <a:ext cx="138873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Authentication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428625" y="2337402"/>
            <a:ext cx="1388734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log in with credentials validated against </a:t>
            </a:r>
            <a:r>
              <a:rPr lang="en-US" sz="885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passwords.txt</a:t>
            </a: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2117396" y="1503034"/>
            <a:ext cx="1388734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436" dirty="0"/>
          </a:p>
        </p:txBody>
      </p:sp>
      <p:sp>
        <p:nvSpPr>
          <p:cNvPr id="8" name="Text 5"/>
          <p:cNvSpPr/>
          <p:nvPr/>
        </p:nvSpPr>
        <p:spPr>
          <a:xfrm>
            <a:off x="2117396" y="1988809"/>
            <a:ext cx="138873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 Check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2117396" y="2337402"/>
            <a:ext cx="1388734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identifies user as </a:t>
            </a:r>
            <a:r>
              <a:rPr lang="en-US" sz="885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or Student</a:t>
            </a: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grant access.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3806168" y="1503034"/>
            <a:ext cx="1388734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436" dirty="0"/>
          </a:p>
        </p:txBody>
      </p:sp>
      <p:sp>
        <p:nvSpPr>
          <p:cNvPr id="11" name="Text 8"/>
          <p:cNvSpPr/>
          <p:nvPr/>
        </p:nvSpPr>
        <p:spPr>
          <a:xfrm>
            <a:off x="3806168" y="1988809"/>
            <a:ext cx="138873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 Menu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3806168" y="2337402"/>
            <a:ext cx="1388734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are presented with </a:t>
            </a:r>
            <a:r>
              <a:rPr lang="en-US" sz="885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role-specific</a:t>
            </a: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navigation options.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5494939" y="1503034"/>
            <a:ext cx="1388734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436" dirty="0"/>
          </a:p>
        </p:txBody>
      </p:sp>
      <p:sp>
        <p:nvSpPr>
          <p:cNvPr id="14" name="Text 11"/>
          <p:cNvSpPr/>
          <p:nvPr/>
        </p:nvSpPr>
        <p:spPr>
          <a:xfrm>
            <a:off x="5494939" y="1988809"/>
            <a:ext cx="1388734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 Execution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5494939" y="2543119"/>
            <a:ext cx="1388734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Operations like </a:t>
            </a:r>
            <a:r>
              <a:rPr lang="en-US" sz="885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adding data</a:t>
            </a: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 viewing charts are performed.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7183710" y="1503034"/>
            <a:ext cx="1388734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2436" dirty="0"/>
          </a:p>
        </p:txBody>
      </p:sp>
      <p:sp>
        <p:nvSpPr>
          <p:cNvPr id="17" name="Text 14"/>
          <p:cNvSpPr/>
          <p:nvPr/>
        </p:nvSpPr>
        <p:spPr>
          <a:xfrm>
            <a:off x="7183710" y="1988809"/>
            <a:ext cx="138873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Persistence</a:t>
            </a:r>
            <a:endParaRPr lang="en-US" sz="1193" dirty="0"/>
          </a:p>
        </p:txBody>
      </p:sp>
      <p:sp>
        <p:nvSpPr>
          <p:cNvPr id="18" name="Text 15"/>
          <p:cNvSpPr/>
          <p:nvPr/>
        </p:nvSpPr>
        <p:spPr>
          <a:xfrm>
            <a:off x="7183710" y="2337402"/>
            <a:ext cx="1388734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Changes are immediately updated in the </a:t>
            </a:r>
            <a:r>
              <a:rPr lang="en-US" sz="885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respective text files</a:t>
            </a: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4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941E04-3229-D70C-9483-AC6194A21C61}"/>
              </a:ext>
            </a:extLst>
          </p:cNvPr>
          <p:cNvSpPr txBox="1"/>
          <p:nvPr/>
        </p:nvSpPr>
        <p:spPr>
          <a:xfrm>
            <a:off x="3672715" y="169333"/>
            <a:ext cx="1798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System flowchart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EA53E124-F5CD-7326-5DB0-F7B2D8CF7F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3447" y="806005"/>
            <a:ext cx="1397106" cy="4168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9689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Features: Student Portal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657225" y="1074409"/>
            <a:ext cx="3743325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Profile Management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657225" y="1408379"/>
            <a:ext cx="37433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can </a:t>
            </a:r>
            <a:r>
              <a:rPr lang="en-US" sz="987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and update</a:t>
            </a: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core personal details (name, email) so records stay current.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743450" y="1074409"/>
            <a:ext cx="3743325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Academic Tracking</a:t>
            </a:r>
            <a:endParaRPr lang="en-US" sz="1602" dirty="0"/>
          </a:p>
        </p:txBody>
      </p:sp>
      <p:sp>
        <p:nvSpPr>
          <p:cNvPr id="7" name="Text 4"/>
          <p:cNvSpPr/>
          <p:nvPr/>
        </p:nvSpPr>
        <p:spPr>
          <a:xfrm>
            <a:off x="4743450" y="1408379"/>
            <a:ext cx="37433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 access to </a:t>
            </a:r>
            <a:r>
              <a:rPr lang="en-US" sz="987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grades</a:t>
            </a: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subject performance for easy progress checks.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57225" y="1894154"/>
            <a:ext cx="3743325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ECA Monitoring</a:t>
            </a:r>
            <a:endParaRPr lang="en-US" sz="1602" dirty="0"/>
          </a:p>
        </p:txBody>
      </p:sp>
      <p:sp>
        <p:nvSpPr>
          <p:cNvPr id="9" name="Text 6"/>
          <p:cNvSpPr/>
          <p:nvPr/>
        </p:nvSpPr>
        <p:spPr>
          <a:xfrm>
            <a:off x="657225" y="2228124"/>
            <a:ext cx="37433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participation in </a:t>
            </a:r>
            <a:r>
              <a:rPr lang="en-US" sz="987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extracurricular activities</a:t>
            </a: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balance school life.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743450" y="1894154"/>
            <a:ext cx="3743325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Visualization</a:t>
            </a:r>
            <a:endParaRPr lang="en-US" sz="1602" dirty="0"/>
          </a:p>
        </p:txBody>
      </p:sp>
      <p:sp>
        <p:nvSpPr>
          <p:cNvPr id="11" name="Text 8"/>
          <p:cNvSpPr/>
          <p:nvPr/>
        </p:nvSpPr>
        <p:spPr>
          <a:xfrm>
            <a:off x="4743450" y="2228124"/>
            <a:ext cx="37433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</a:t>
            </a:r>
            <a:r>
              <a:rPr lang="en-US" sz="987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 bar charts</a:t>
            </a: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grades for a quick visual self-assessment.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175857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571500"/>
            <a:ext cx="3175732" cy="1320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1A20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Admin Control Panel: Full Oversight</a:t>
            </a:r>
            <a:endParaRPr lang="en-US" sz="2862" dirty="0"/>
          </a:p>
        </p:txBody>
      </p:sp>
      <p:sp>
        <p:nvSpPr>
          <p:cNvPr id="5" name="Text 2"/>
          <p:cNvSpPr/>
          <p:nvPr/>
        </p:nvSpPr>
        <p:spPr>
          <a:xfrm>
            <a:off x="571500" y="2177365"/>
            <a:ext cx="3175732" cy="610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4A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Administrator role provides complete control over the student lifecycle and system environment.</a:t>
            </a:r>
            <a:endParaRPr lang="en-US" sz="996" dirty="0"/>
          </a:p>
        </p:txBody>
      </p:sp>
      <p:sp>
        <p:nvSpPr>
          <p:cNvPr id="6" name="Shape 3"/>
          <p:cNvSpPr/>
          <p:nvPr/>
        </p:nvSpPr>
        <p:spPr>
          <a:xfrm>
            <a:off x="4190144" y="0"/>
            <a:ext cx="4953856" cy="514350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761644" y="214313"/>
            <a:ext cx="381085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kern="0" spc="1" dirty="0">
                <a:solidFill>
                  <a:srgbClr val="3182C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USER LIFECYCLE MANAGEMENT</a:t>
            </a:r>
            <a:endParaRPr lang="en-US" sz="1295" dirty="0"/>
          </a:p>
        </p:txBody>
      </p:sp>
      <p:sp>
        <p:nvSpPr>
          <p:cNvPr id="8" name="Text 5"/>
          <p:cNvSpPr/>
          <p:nvPr/>
        </p:nvSpPr>
        <p:spPr>
          <a:xfrm>
            <a:off x="4925950" y="535781"/>
            <a:ext cx="1128992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4A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Automated generation of</a:t>
            </a:r>
            <a:endParaRPr lang="en-US" sz="996" dirty="0"/>
          </a:p>
        </p:txBody>
      </p:sp>
      <p:sp>
        <p:nvSpPr>
          <p:cNvPr id="9" name="Text 6"/>
          <p:cNvSpPr/>
          <p:nvPr/>
        </p:nvSpPr>
        <p:spPr>
          <a:xfrm>
            <a:off x="6054942" y="535781"/>
            <a:ext cx="467302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36" b="1" dirty="0">
                <a:solidFill>
                  <a:srgbClr val="1A20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Unique IDs</a:t>
            </a:r>
            <a:endParaRPr lang="en-US" sz="936" dirty="0"/>
          </a:p>
        </p:txBody>
      </p:sp>
      <p:sp>
        <p:nvSpPr>
          <p:cNvPr id="10" name="Text 7"/>
          <p:cNvSpPr/>
          <p:nvPr/>
        </p:nvSpPr>
        <p:spPr>
          <a:xfrm>
            <a:off x="6522244" y="535781"/>
            <a:ext cx="2050284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4A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(STUxxx / ADMxxx) based on existing records.</a:t>
            </a:r>
            <a:endParaRPr lang="en-US" sz="996" dirty="0"/>
          </a:p>
        </p:txBody>
      </p:sp>
      <p:sp>
        <p:nvSpPr>
          <p:cNvPr id="11" name="Text 8"/>
          <p:cNvSpPr/>
          <p:nvPr/>
        </p:nvSpPr>
        <p:spPr>
          <a:xfrm>
            <a:off x="4761644" y="985838"/>
            <a:ext cx="3810856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4A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Secure registration of new users with role-specific data initialization.</a:t>
            </a:r>
            <a:endParaRPr lang="en-US" sz="996" dirty="0"/>
          </a:p>
        </p:txBody>
      </p:sp>
      <p:sp>
        <p:nvSpPr>
          <p:cNvPr id="12" name="Text 9"/>
          <p:cNvSpPr/>
          <p:nvPr/>
        </p:nvSpPr>
        <p:spPr>
          <a:xfrm>
            <a:off x="4761644" y="1521619"/>
            <a:ext cx="381085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kern="0" spc="1" dirty="0">
                <a:solidFill>
                  <a:srgbClr val="3182C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MULTI-FILE CRUD OPERATIONS</a:t>
            </a:r>
            <a:endParaRPr lang="en-US" sz="1295" dirty="0"/>
          </a:p>
        </p:txBody>
      </p:sp>
      <p:sp>
        <p:nvSpPr>
          <p:cNvPr id="13" name="Text 10"/>
          <p:cNvSpPr/>
          <p:nvPr/>
        </p:nvSpPr>
        <p:spPr>
          <a:xfrm>
            <a:off x="4761644" y="1843088"/>
            <a:ext cx="3810856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4A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Synchronized modification of personal info, grades, and ECA records.</a:t>
            </a:r>
            <a:endParaRPr lang="en-US" sz="996" dirty="0"/>
          </a:p>
        </p:txBody>
      </p:sp>
      <p:sp>
        <p:nvSpPr>
          <p:cNvPr id="14" name="Text 11"/>
          <p:cNvSpPr/>
          <p:nvPr/>
        </p:nvSpPr>
        <p:spPr>
          <a:xfrm>
            <a:off x="4925950" y="2293144"/>
            <a:ext cx="1890526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4A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Complete deletion of student data across</a:t>
            </a:r>
            <a:endParaRPr lang="en-US" sz="996" dirty="0"/>
          </a:p>
        </p:txBody>
      </p:sp>
      <p:sp>
        <p:nvSpPr>
          <p:cNvPr id="15" name="Text 12"/>
          <p:cNvSpPr/>
          <p:nvPr/>
        </p:nvSpPr>
        <p:spPr>
          <a:xfrm>
            <a:off x="6816477" y="2293144"/>
            <a:ext cx="881667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36" b="1" dirty="0">
                <a:solidFill>
                  <a:srgbClr val="1A20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all four system files</a:t>
            </a:r>
            <a:endParaRPr lang="en-US" sz="936" dirty="0"/>
          </a:p>
        </p:txBody>
      </p:sp>
      <p:sp>
        <p:nvSpPr>
          <p:cNvPr id="16" name="Text 13"/>
          <p:cNvSpPr/>
          <p:nvPr/>
        </p:nvSpPr>
        <p:spPr>
          <a:xfrm>
            <a:off x="7698144" y="2293144"/>
            <a:ext cx="874328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4A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 ensure integrity.</a:t>
            </a:r>
            <a:endParaRPr lang="en-US" sz="996" dirty="0"/>
          </a:p>
        </p:txBody>
      </p:sp>
      <p:sp>
        <p:nvSpPr>
          <p:cNvPr id="17" name="Text 14"/>
          <p:cNvSpPr/>
          <p:nvPr/>
        </p:nvSpPr>
        <p:spPr>
          <a:xfrm>
            <a:off x="4761644" y="2828925"/>
            <a:ext cx="381085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kern="0" spc="1" dirty="0">
                <a:solidFill>
                  <a:srgbClr val="3182C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SYSTEM MAINTENANCE</a:t>
            </a:r>
            <a:endParaRPr lang="en-US" sz="1295" dirty="0"/>
          </a:p>
        </p:txBody>
      </p:sp>
      <p:sp>
        <p:nvSpPr>
          <p:cNvPr id="18" name="Text 15"/>
          <p:cNvSpPr/>
          <p:nvPr/>
        </p:nvSpPr>
        <p:spPr>
          <a:xfrm>
            <a:off x="4925950" y="3150394"/>
            <a:ext cx="364331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4A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Built-in</a:t>
            </a:r>
            <a:endParaRPr lang="en-US" sz="996" dirty="0"/>
          </a:p>
        </p:txBody>
      </p:sp>
      <p:sp>
        <p:nvSpPr>
          <p:cNvPr id="19" name="Text 16"/>
          <p:cNvSpPr/>
          <p:nvPr/>
        </p:nvSpPr>
        <p:spPr>
          <a:xfrm>
            <a:off x="5290282" y="3150394"/>
            <a:ext cx="1019770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36" b="1" dirty="0">
                <a:solidFill>
                  <a:srgbClr val="1A20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initialize_files()</a:t>
            </a:r>
            <a:endParaRPr lang="en-US" sz="936" dirty="0"/>
          </a:p>
        </p:txBody>
      </p:sp>
      <p:sp>
        <p:nvSpPr>
          <p:cNvPr id="20" name="Text 17"/>
          <p:cNvSpPr/>
          <p:nvPr/>
        </p:nvSpPr>
        <p:spPr>
          <a:xfrm>
            <a:off x="6310052" y="3150394"/>
            <a:ext cx="2262448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4A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logic to set up the data directory and default accounts.</a:t>
            </a:r>
            <a:endParaRPr lang="en-US" sz="996" dirty="0"/>
          </a:p>
        </p:txBody>
      </p:sp>
      <p:sp>
        <p:nvSpPr>
          <p:cNvPr id="21" name="Text 18"/>
          <p:cNvSpPr/>
          <p:nvPr/>
        </p:nvSpPr>
        <p:spPr>
          <a:xfrm>
            <a:off x="4761644" y="3600450"/>
            <a:ext cx="3810856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4A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Global oversight via the "View All Students" summary dashboard.</a:t>
            </a:r>
            <a:endParaRPr lang="en-US" sz="996" dirty="0"/>
          </a:p>
        </p:txBody>
      </p:sp>
      <p:sp>
        <p:nvSpPr>
          <p:cNvPr id="22" name="Shape 19"/>
          <p:cNvSpPr/>
          <p:nvPr/>
        </p:nvSpPr>
        <p:spPr>
          <a:xfrm>
            <a:off x="4761644" y="4079081"/>
            <a:ext cx="3810856" cy="62865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3" name="Shape 20"/>
          <p:cNvSpPr/>
          <p:nvPr/>
        </p:nvSpPr>
        <p:spPr>
          <a:xfrm>
            <a:off x="4761644" y="4079081"/>
            <a:ext cx="28575" cy="62865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24" name="Text 21"/>
          <p:cNvSpPr/>
          <p:nvPr/>
        </p:nvSpPr>
        <p:spPr>
          <a:xfrm>
            <a:off x="4761644" y="4079081"/>
            <a:ext cx="3810856" cy="628650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generate_unique_id(self, role):
prefix = 'STU' if role == 'student' else 'ADM'
...
return f"{prefix}{count:03d}"</a:t>
            </a:r>
            <a:endParaRPr lang="en-US" sz="83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Persistence &amp; File Handling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28625" y="1503034"/>
            <a:ext cx="181094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182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users.txt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428625" y="1840576"/>
            <a:ext cx="181094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PROFILES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428625" y="2120968"/>
            <a:ext cx="1810941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Stores general </a:t>
            </a:r>
            <a:r>
              <a:rPr lang="en-US" sz="885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information</a:t>
            </a: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including names, email addresses, and associated user IDs.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2539603" y="1503034"/>
            <a:ext cx="181094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182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passwords.txt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2539603" y="1840576"/>
            <a:ext cx="181094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AUTHENTICATION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2539603" y="2120968"/>
            <a:ext cx="1810941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Contains </a:t>
            </a:r>
            <a:r>
              <a:rPr lang="en-US" sz="885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 credentials</a:t>
            </a: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role assignments (Admin/Student) for secure system access.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4650581" y="1503034"/>
            <a:ext cx="181094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182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grades.txt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4650581" y="1840576"/>
            <a:ext cx="181094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ACADEMIC DATA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4650581" y="2120968"/>
            <a:ext cx="1810941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Records </a:t>
            </a:r>
            <a:r>
              <a:rPr lang="en-US" sz="885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subject-specific marks</a:t>
            </a: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each student, used for performance tracking and charts.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6761559" y="1503034"/>
            <a:ext cx="181094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182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eca.txt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6761559" y="1840576"/>
            <a:ext cx="181094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ACTIVITIES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6761559" y="2120968"/>
            <a:ext cx="1810941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Tracks participation in </a:t>
            </a:r>
            <a:r>
              <a:rPr lang="en-US" sz="885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extracurricular activities</a:t>
            </a: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provide a holistic view of student engagement.</a:t>
            </a:r>
            <a:endParaRPr lang="en-US" sz="942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880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1A20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Analytics Dashboard: Data-Driven Proactive Insights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571500" y="1594452"/>
            <a:ext cx="356473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kern="0" spc="1" dirty="0">
                <a:solidFill>
                  <a:srgbClr val="3182C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PERFORMANCE ALERTS</a:t>
            </a:r>
            <a:endParaRPr lang="en-US" sz="1295" dirty="0"/>
          </a:p>
        </p:txBody>
      </p:sp>
      <p:sp>
        <p:nvSpPr>
          <p:cNvPr id="5" name="Text 2"/>
          <p:cNvSpPr/>
          <p:nvPr/>
        </p:nvSpPr>
        <p:spPr>
          <a:xfrm>
            <a:off x="571500" y="1915920"/>
            <a:ext cx="356473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Automatically identifies students requiring academic support based on a predefined threshold.</a:t>
            </a:r>
            <a:endParaRPr lang="en-US" sz="942" dirty="0"/>
          </a:p>
        </p:txBody>
      </p:sp>
      <p:sp>
        <p:nvSpPr>
          <p:cNvPr id="6" name="Shape 3"/>
          <p:cNvSpPr/>
          <p:nvPr/>
        </p:nvSpPr>
        <p:spPr>
          <a:xfrm>
            <a:off x="571500" y="2408839"/>
            <a:ext cx="3564731" cy="657225"/>
          </a:xfrm>
          <a:prstGeom prst="rect">
            <a:avLst/>
          </a:prstGeom>
          <a:solidFill>
            <a:srgbClr val="FFF5F5">
              <a:alpha val="8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2408839"/>
            <a:ext cx="28575" cy="657225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8" name="Text 5"/>
          <p:cNvSpPr/>
          <p:nvPr/>
        </p:nvSpPr>
        <p:spPr>
          <a:xfrm>
            <a:off x="714375" y="2480277"/>
            <a:ext cx="342185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53E3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CRITICAL THRESHOLD: &lt; 70%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714375" y="2680302"/>
            <a:ext cx="342185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Flags students for </a:t>
            </a:r>
            <a:r>
              <a:rPr lang="en-US" sz="885" b="1" dirty="0">
                <a:solidFill>
                  <a:srgbClr val="1A20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tutoring sessions</a:t>
            </a:r>
            <a:r>
              <a:rPr lang="en-US" sz="942" dirty="0">
                <a:solidFill>
                  <a:srgbClr val="4A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and </a:t>
            </a:r>
            <a:r>
              <a:rPr lang="en-US" sz="885" b="1" dirty="0">
                <a:solidFill>
                  <a:srgbClr val="1A20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parent-teacher meetings</a:t>
            </a:r>
            <a:r>
              <a:rPr lang="en-US" sz="942" dirty="0">
                <a:solidFill>
                  <a:srgbClr val="4A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571500" y="3280377"/>
            <a:ext cx="356473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kern="0" spc="1" dirty="0">
                <a:solidFill>
                  <a:srgbClr val="3182C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ECA CORRELATION</a:t>
            </a:r>
            <a:endParaRPr lang="en-US" sz="1295" dirty="0"/>
          </a:p>
        </p:txBody>
      </p:sp>
      <p:sp>
        <p:nvSpPr>
          <p:cNvPr id="11" name="Text 8"/>
          <p:cNvSpPr/>
          <p:nvPr/>
        </p:nvSpPr>
        <p:spPr>
          <a:xfrm>
            <a:off x="571500" y="3601845"/>
            <a:ext cx="356473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Uses </a:t>
            </a:r>
            <a:r>
              <a:rPr lang="en-US" sz="885" b="1" dirty="0">
                <a:solidFill>
                  <a:srgbClr val="1A20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Numpy &amp; Matplotlib</a:t>
            </a:r>
            <a:r>
              <a:rPr lang="en-US" sz="942" dirty="0">
                <a:solidFill>
                  <a:srgbClr val="4A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to analyze the link between extracurricular involvement and academic success.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571500" y="4201920"/>
            <a:ext cx="356473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kern="0" spc="1" dirty="0">
                <a:solidFill>
                  <a:srgbClr val="3182C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STATISTICAL SUMMARY</a:t>
            </a:r>
            <a:endParaRPr lang="en-US" sz="1295" dirty="0"/>
          </a:p>
        </p:txBody>
      </p:sp>
      <p:sp>
        <p:nvSpPr>
          <p:cNvPr id="13" name="Text 10"/>
          <p:cNvSpPr/>
          <p:nvPr/>
        </p:nvSpPr>
        <p:spPr>
          <a:xfrm>
            <a:off x="571500" y="4523389"/>
            <a:ext cx="356473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Leverages </a:t>
            </a:r>
            <a:r>
              <a:rPr lang="en-US" sz="885" b="1" dirty="0">
                <a:solidFill>
                  <a:srgbClr val="1A20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Pandas</a:t>
            </a:r>
            <a:r>
              <a:rPr lang="en-US" sz="942" dirty="0">
                <a:solidFill>
                  <a:srgbClr val="4A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to generate class averages and identify top/bottom performers.</a:t>
            </a:r>
            <a:endParaRPr lang="en-US" sz="942" dirty="0"/>
          </a:p>
        </p:txBody>
      </p:sp>
      <p:sp>
        <p:nvSpPr>
          <p:cNvPr id="14" name="Shape 11"/>
          <p:cNvSpPr/>
          <p:nvPr/>
        </p:nvSpPr>
        <p:spPr>
          <a:xfrm>
            <a:off x="5007769" y="1594452"/>
            <a:ext cx="3564731" cy="2714625"/>
          </a:xfrm>
          <a:prstGeom prst="rect">
            <a:avLst/>
          </a:prstGeom>
          <a:solidFill>
            <a:srgbClr val="FFFFFF"/>
          </a:solidFill>
          <a:ln w="9144">
            <a:solidFill>
              <a:srgbClr val="EDF2F7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0644" y="1737327"/>
            <a:ext cx="3264694" cy="24145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007769" y="4451952"/>
            <a:ext cx="356473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0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Class-Wide Subject Performance Trends</a:t>
            </a:r>
            <a:endParaRPr lang="en-US" sz="784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 &amp; Quality Assurance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571500" y="1503034"/>
            <a:ext cx="23002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VERIFICATION</a:t>
            </a:r>
            <a:endParaRPr lang="en-US" sz="1397" dirty="0"/>
          </a:p>
        </p:txBody>
      </p:sp>
      <p:sp>
        <p:nvSpPr>
          <p:cNvPr id="5" name="Text 2"/>
          <p:cNvSpPr/>
          <p:nvPr/>
        </p:nvSpPr>
        <p:spPr>
          <a:xfrm>
            <a:off x="571500" y="1960234"/>
            <a:ext cx="230028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Testing</a:t>
            </a:r>
            <a:endParaRPr lang="en-US" sz="1090" dirty="0"/>
          </a:p>
        </p:txBody>
      </p:sp>
      <p:sp>
        <p:nvSpPr>
          <p:cNvPr id="6" name="Text 3"/>
          <p:cNvSpPr/>
          <p:nvPr/>
        </p:nvSpPr>
        <p:spPr>
          <a:xfrm>
            <a:off x="571500" y="2206693"/>
            <a:ext cx="230028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individual functions like </a:t>
            </a:r>
            <a:r>
              <a:rPr lang="en-US" sz="885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login()</a:t>
            </a: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data retrieval logic for accuracy.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571500" y="2956787"/>
            <a:ext cx="230028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</a:t>
            </a:r>
            <a:endParaRPr lang="en-US" sz="1090" dirty="0"/>
          </a:p>
        </p:txBody>
      </p:sp>
      <p:sp>
        <p:nvSpPr>
          <p:cNvPr id="8" name="Text 5"/>
          <p:cNvSpPr/>
          <p:nvPr/>
        </p:nvSpPr>
        <p:spPr>
          <a:xfrm>
            <a:off x="571500" y="3203246"/>
            <a:ext cx="230028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Ensured seamless interaction between the CLI and the underlying </a:t>
            </a:r>
            <a:r>
              <a:rPr lang="en-US" sz="885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storage</a:t>
            </a: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system.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3314700" y="1503034"/>
            <a:ext cx="23002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 HANDLING</a:t>
            </a:r>
            <a:endParaRPr lang="en-US" sz="1397" dirty="0"/>
          </a:p>
        </p:txBody>
      </p:sp>
      <p:sp>
        <p:nvSpPr>
          <p:cNvPr id="10" name="Text 7"/>
          <p:cNvSpPr/>
          <p:nvPr/>
        </p:nvSpPr>
        <p:spPr>
          <a:xfrm>
            <a:off x="3314700" y="1960234"/>
            <a:ext cx="230028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I/O Safety</a:t>
            </a:r>
            <a:endParaRPr lang="en-US" sz="1090" dirty="0"/>
          </a:p>
        </p:txBody>
      </p:sp>
      <p:sp>
        <p:nvSpPr>
          <p:cNvPr id="11" name="Text 8"/>
          <p:cNvSpPr/>
          <p:nvPr/>
        </p:nvSpPr>
        <p:spPr>
          <a:xfrm>
            <a:off x="3314700" y="2206693"/>
            <a:ext cx="230028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Implemented </a:t>
            </a:r>
            <a:r>
              <a:rPr lang="en-US" sz="885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try-except</a:t>
            </a: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blocks to prevent crashes during file access or missing data.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3314700" y="2956787"/>
            <a:ext cx="230028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Validation</a:t>
            </a:r>
            <a:endParaRPr lang="en-US" sz="1090" dirty="0"/>
          </a:p>
        </p:txBody>
      </p:sp>
      <p:sp>
        <p:nvSpPr>
          <p:cNvPr id="13" name="Text 10"/>
          <p:cNvSpPr/>
          <p:nvPr/>
        </p:nvSpPr>
        <p:spPr>
          <a:xfrm>
            <a:off x="3314700" y="3203246"/>
            <a:ext cx="23002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 handling of invalid user inputs and menu navigation errors.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6057900" y="1503034"/>
            <a:ext cx="23002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1397" dirty="0"/>
          </a:p>
        </p:txBody>
      </p:sp>
      <p:sp>
        <p:nvSpPr>
          <p:cNvPr id="15" name="Text 12"/>
          <p:cNvSpPr/>
          <p:nvPr/>
        </p:nvSpPr>
        <p:spPr>
          <a:xfrm>
            <a:off x="6057900" y="1960234"/>
            <a:ext cx="230028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Authentication</a:t>
            </a:r>
            <a:endParaRPr lang="en-US" sz="1090" dirty="0"/>
          </a:p>
        </p:txBody>
      </p:sp>
      <p:sp>
        <p:nvSpPr>
          <p:cNvPr id="16" name="Text 13"/>
          <p:cNvSpPr/>
          <p:nvPr/>
        </p:nvSpPr>
        <p:spPr>
          <a:xfrm>
            <a:off x="6057900" y="2206693"/>
            <a:ext cx="23002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 success rate in validating credentials against </a:t>
            </a:r>
            <a:r>
              <a:rPr lang="en-US" sz="885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passwords.txt</a:t>
            </a: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6057900" y="2763906"/>
            <a:ext cx="230028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Integrity</a:t>
            </a:r>
            <a:endParaRPr lang="en-US" sz="1090" dirty="0"/>
          </a:p>
        </p:txBody>
      </p:sp>
      <p:sp>
        <p:nvSpPr>
          <p:cNvPr id="18" name="Text 15"/>
          <p:cNvSpPr/>
          <p:nvPr/>
        </p:nvSpPr>
        <p:spPr>
          <a:xfrm>
            <a:off x="6057900" y="3010365"/>
            <a:ext cx="230028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Confirmed that all CRUD operations maintain consistent state across all text files.</a:t>
            </a:r>
            <a:endParaRPr lang="en-US" sz="942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Challenges &amp; Solutions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571500" y="1360159"/>
            <a:ext cx="356473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kern="0" spc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CHALLENGES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571500" y="1851292"/>
            <a:ext cx="356473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Consistency</a:t>
            </a:r>
            <a:endParaRPr lang="en-US" sz="1090" dirty="0"/>
          </a:p>
        </p:txBody>
      </p:sp>
      <p:sp>
        <p:nvSpPr>
          <p:cNvPr id="6" name="Text 3"/>
          <p:cNvSpPr/>
          <p:nvPr/>
        </p:nvSpPr>
        <p:spPr>
          <a:xfrm>
            <a:off x="571500" y="2126326"/>
            <a:ext cx="3564731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Maintaining synchronized updates across multiple text files (users, grades, passwords) to prevent data corruption.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571500" y="3029229"/>
            <a:ext cx="356473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I/O Errors</a:t>
            </a:r>
            <a:endParaRPr lang="en-US" sz="1090" dirty="0"/>
          </a:p>
        </p:txBody>
      </p:sp>
      <p:sp>
        <p:nvSpPr>
          <p:cNvPr id="8" name="Text 5"/>
          <p:cNvSpPr/>
          <p:nvPr/>
        </p:nvSpPr>
        <p:spPr>
          <a:xfrm>
            <a:off x="571500" y="3304263"/>
            <a:ext cx="356473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Handling potential system crashes during concurrent file reading or writing operations.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5007769" y="1360159"/>
            <a:ext cx="356473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kern="0" spc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SOLUTIONS</a:t>
            </a:r>
            <a:endParaRPr lang="en-US" sz="1602" dirty="0"/>
          </a:p>
        </p:txBody>
      </p:sp>
      <p:sp>
        <p:nvSpPr>
          <p:cNvPr id="10" name="Text 7"/>
          <p:cNvSpPr/>
          <p:nvPr/>
        </p:nvSpPr>
        <p:spPr>
          <a:xfrm>
            <a:off x="5007769" y="1851292"/>
            <a:ext cx="356473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Synchronized Logic</a:t>
            </a:r>
            <a:endParaRPr lang="en-US" sz="1090" dirty="0"/>
          </a:p>
        </p:txBody>
      </p:sp>
      <p:sp>
        <p:nvSpPr>
          <p:cNvPr id="11" name="Text 8"/>
          <p:cNvSpPr/>
          <p:nvPr/>
        </p:nvSpPr>
        <p:spPr>
          <a:xfrm>
            <a:off x="5007769" y="2126326"/>
            <a:ext cx="356473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Implemented a </a:t>
            </a:r>
            <a:r>
              <a:rPr lang="en-US" sz="885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centralized update function</a:t>
            </a: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that modifies all related files within a single transaction-like block.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5007769" y="2994292"/>
            <a:ext cx="356473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 Error Handling</a:t>
            </a:r>
            <a:endParaRPr lang="en-US" sz="1090" dirty="0"/>
          </a:p>
        </p:txBody>
      </p:sp>
      <p:sp>
        <p:nvSpPr>
          <p:cNvPr id="13" name="Text 10"/>
          <p:cNvSpPr/>
          <p:nvPr/>
        </p:nvSpPr>
        <p:spPr>
          <a:xfrm>
            <a:off x="5007769" y="3269326"/>
            <a:ext cx="356473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Utilized </a:t>
            </a:r>
            <a:r>
              <a:rPr lang="en-US" sz="885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try-except blocks</a:t>
            </a: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file validation checks to ensure system stability during all I/O operations.</a:t>
            </a:r>
            <a:endParaRPr lang="en-US" sz="942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07629E-8E10-F08F-D29C-37B3852FF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1567" y="874643"/>
            <a:ext cx="4860234" cy="41893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E90ABE-3FB9-2B89-54E6-D032F221C4F0}"/>
              </a:ext>
            </a:extLst>
          </p:cNvPr>
          <p:cNvSpPr txBox="1"/>
          <p:nvPr/>
        </p:nvSpPr>
        <p:spPr>
          <a:xfrm>
            <a:off x="4323522" y="288235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23663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4D45D2-E636-72EC-6486-3F1C65D4A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8105" y="1033668"/>
            <a:ext cx="3829050" cy="40104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8E2034-6923-C1FA-3842-40C06CBB1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45" y="1451114"/>
            <a:ext cx="4993848" cy="34864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BFFA66-A471-8695-6D77-20C77C075AC2}"/>
              </a:ext>
            </a:extLst>
          </p:cNvPr>
          <p:cNvSpPr txBox="1"/>
          <p:nvPr/>
        </p:nvSpPr>
        <p:spPr>
          <a:xfrm>
            <a:off x="4462670" y="387626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3702910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6AFE91-BB8D-CE59-B240-CA33F04AE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8874" y="1311965"/>
            <a:ext cx="4966252" cy="35328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F3DF804-9A63-ECBE-BBFD-A95FEC1A3313}"/>
              </a:ext>
            </a:extLst>
          </p:cNvPr>
          <p:cNvSpPr txBox="1"/>
          <p:nvPr/>
        </p:nvSpPr>
        <p:spPr>
          <a:xfrm>
            <a:off x="4293704" y="298727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6479957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C3BC05-334B-8185-6CF0-AA873F676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8867" y="884583"/>
            <a:ext cx="5146266" cy="38712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B222A7-CDF7-E335-38CA-A522F2637D93}"/>
              </a:ext>
            </a:extLst>
          </p:cNvPr>
          <p:cNvSpPr txBox="1"/>
          <p:nvPr/>
        </p:nvSpPr>
        <p:spPr>
          <a:xfrm>
            <a:off x="4143837" y="139149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5073343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C170F7-D99D-06F6-21D0-EEAC76D97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6365" y="1070045"/>
            <a:ext cx="4890052" cy="369576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EF4D99-7F6D-4681-E837-1A262A218212}"/>
              </a:ext>
            </a:extLst>
          </p:cNvPr>
          <p:cNvSpPr txBox="1"/>
          <p:nvPr/>
        </p:nvSpPr>
        <p:spPr>
          <a:xfrm>
            <a:off x="4313583" y="248478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6732549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Enhancements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28625" y="1503034"/>
            <a:ext cx="181094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Integration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428625" y="1880202"/>
            <a:ext cx="1810941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Transitioning from text files to a </a:t>
            </a:r>
            <a:r>
              <a:rPr lang="en-US" sz="885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relational database</a:t>
            </a: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like MySQL or SQLite for better scalability and data integrity.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2539603" y="1503034"/>
            <a:ext cx="181094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 Development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2539603" y="1880202"/>
            <a:ext cx="1810941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Developing a user-friendly </a:t>
            </a:r>
            <a:r>
              <a:rPr lang="en-US" sz="885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Graphical User Interface</a:t>
            </a: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using Tkinter or PyQt to replace the current CLI.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4650581" y="1503034"/>
            <a:ext cx="181094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&amp; Encryption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4650581" y="2085919"/>
            <a:ext cx="1810941" cy="10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Implementing </a:t>
            </a:r>
            <a:r>
              <a:rPr lang="en-US" sz="885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password hashing</a:t>
            </a: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(e.g., bcrypt) and secure session management to protect sensitive student data.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6761559" y="1503034"/>
            <a:ext cx="181094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&amp; Mobile Version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6761559" y="2085919"/>
            <a:ext cx="1810941" cy="10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Expanding the system to be accessible via </a:t>
            </a:r>
            <a:r>
              <a:rPr lang="en-US" sz="885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browsers and mobile apps</a:t>
            </a: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remote access and real-time updates.</a:t>
            </a:r>
            <a:endParaRPr lang="en-US" sz="942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571500" y="1503034"/>
            <a:ext cx="23002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SUCCESS</a:t>
            </a:r>
            <a:endParaRPr lang="en-US" sz="1397" dirty="0"/>
          </a:p>
        </p:txBody>
      </p:sp>
      <p:sp>
        <p:nvSpPr>
          <p:cNvPr id="5" name="Text 2"/>
          <p:cNvSpPr/>
          <p:nvPr/>
        </p:nvSpPr>
        <p:spPr>
          <a:xfrm>
            <a:off x="571500" y="1960234"/>
            <a:ext cx="23002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Successfully developed a </a:t>
            </a:r>
            <a:r>
              <a:rPr lang="en-US" sz="987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 Student Management System</a:t>
            </a: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that meets all core educational requirements for data management and role-based access.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3314700" y="1503034"/>
            <a:ext cx="2300288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MASTERY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3314700" y="2203121"/>
            <a:ext cx="23002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Demonstrated the practical application of </a:t>
            </a:r>
            <a:r>
              <a:rPr lang="en-US" sz="987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OOP principles, persistent file handling, and data visualization</a:t>
            </a: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using Python and Matplotlib.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057900" y="1503034"/>
            <a:ext cx="23002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OUTLOOK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6057900" y="1960234"/>
            <a:ext cx="23002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Provided a </a:t>
            </a:r>
            <a:r>
              <a:rPr lang="en-US" sz="987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scalable foundation</a:t>
            </a: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future educational tools, with clear pathways for database integration and graphical interface development.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125" y="2030611"/>
            <a:ext cx="3136106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145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4145" dirty="0"/>
          </a:p>
        </p:txBody>
      </p:sp>
      <p:sp>
        <p:nvSpPr>
          <p:cNvPr id="4" name="Text 1"/>
          <p:cNvSpPr/>
          <p:nvPr/>
        </p:nvSpPr>
        <p:spPr>
          <a:xfrm>
            <a:off x="1000125" y="2830711"/>
            <a:ext cx="3136106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Management System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5007769" y="2053130"/>
            <a:ext cx="3136106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 &amp; A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007769" y="2610343"/>
            <a:ext cx="3136106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welcome your questions and feedback regarding our project.</a:t>
            </a:r>
            <a:endParaRPr lang="en-US" sz="1269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1163</Words>
  <Application>Microsoft Macintosh PowerPoint</Application>
  <PresentationFormat>On-screen Show (16:9)</PresentationFormat>
  <Paragraphs>225</Paragraphs>
  <Slides>22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Courier New</vt:lpstr>
      <vt:lpstr>Inter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Aishworya</cp:lastModifiedBy>
  <cp:revision>6</cp:revision>
  <dcterms:created xsi:type="dcterms:W3CDTF">2026-04-16T08:46:19Z</dcterms:created>
  <dcterms:modified xsi:type="dcterms:W3CDTF">2026-04-19T02:01:50Z</dcterms:modified>
</cp:coreProperties>
</file>